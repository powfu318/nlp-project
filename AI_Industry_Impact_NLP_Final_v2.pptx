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0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Articles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 (partial)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18361</c:v>
                </c:pt>
                <c:pt idx="1">
                  <c:v>71383</c:v>
                </c:pt>
                <c:pt idx="2">
                  <c:v>49789</c:v>
                </c:pt>
                <c:pt idx="3">
                  <c:v>54345</c:v>
                </c:pt>
                <c:pt idx="4">
                  <c:v>6111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Article Count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Media &amp; Marketing</c:v>
                  </c:pt>
                  <c:pt idx="1">
                    <c:v>Technology</c:v>
                  </c:pt>
                  <c:pt idx="2">
                    <c:v>Finance</c:v>
                  </c:pt>
                  <c:pt idx="3">
                    <c:v>Education</c:v>
                  </c:pt>
                  <c:pt idx="4">
                    <c:v>Gov &amp; Public Sector</c:v>
                  </c:pt>
                  <c:pt idx="5">
                    <c:v>Healthcare</c:v>
                  </c:pt>
                  <c:pt idx="6">
                    <c:v>Energy &amp; Utilities</c:v>
                  </c:pt>
                  <c:pt idx="7">
                    <c:v>Manufacturing</c:v>
                  </c:pt>
                  <c:pt idx="8">
                    <c:v>Legal</c:v>
                  </c:pt>
                  <c:pt idx="9">
                    <c:v>Transportation</c:v>
                  </c:pt>
                  <c:pt idx="10">
                    <c:v>Retail &amp; E-commerce</c:v>
                  </c:pt>
                  <c:pt idx="11">
                    <c:v>Consulting / Prof. Svcs</c:v>
                  </c:pt>
                  <c:pt idx="12">
                    <c:v>Telecom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89912</c:v>
                </c:pt>
                <c:pt idx="1">
                  <c:v>78366</c:v>
                </c:pt>
                <c:pt idx="2">
                  <c:v>58027</c:v>
                </c:pt>
                <c:pt idx="3">
                  <c:v>57106</c:v>
                </c:pt>
                <c:pt idx="4">
                  <c:v>46673</c:v>
                </c:pt>
                <c:pt idx="5">
                  <c:v>36964</c:v>
                </c:pt>
                <c:pt idx="6">
                  <c:v>35391</c:v>
                </c:pt>
                <c:pt idx="7">
                  <c:v>34599</c:v>
                </c:pt>
                <c:pt idx="8">
                  <c:v>33860</c:v>
                </c:pt>
                <c:pt idx="9">
                  <c:v>26247</c:v>
                </c:pt>
                <c:pt idx="10">
                  <c:v>23501</c:v>
                </c:pt>
                <c:pt idx="11">
                  <c:v>16206</c:v>
                </c:pt>
                <c:pt idx="12">
                  <c:v>14620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Microsoft</c:v>
                  </c:pt>
                  <c:pt idx="1">
                    <c:v>Google</c:v>
                  </c:pt>
                  <c:pt idx="2">
                    <c:v>OpenAI</c:v>
                  </c:pt>
                  <c:pt idx="3">
                    <c:v>Apple</c:v>
                  </c:pt>
                  <c:pt idx="4">
                    <c:v>Amazon</c:v>
                  </c:pt>
                  <c:pt idx="5">
                    <c:v>Meta</c:v>
                  </c:pt>
                  <c:pt idx="6">
                    <c:v>IBM</c:v>
                  </c:pt>
                  <c:pt idx="7">
                    <c:v>NVIDIA</c:v>
                  </c:pt>
                  <c:pt idx="8">
                    <c:v>Salesforce</c:v>
                  </c:pt>
                  <c:pt idx="9">
                    <c:v>SAP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5219</c:v>
                </c:pt>
                <c:pt idx="1">
                  <c:v>5015</c:v>
                </c:pt>
                <c:pt idx="2">
                  <c:v>4227</c:v>
                </c:pt>
                <c:pt idx="3">
                  <c:v>1935</c:v>
                </c:pt>
                <c:pt idx="4">
                  <c:v>1623</c:v>
                </c:pt>
                <c:pt idx="5">
                  <c:v>1567</c:v>
                </c:pt>
                <c:pt idx="6">
                  <c:v>1200</c:v>
                </c:pt>
                <c:pt idx="7">
                  <c:v>980</c:v>
                </c:pt>
                <c:pt idx="8">
                  <c:v>820</c:v>
                </c:pt>
                <c:pt idx="9">
                  <c:v>610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Articles</c:v>
                </c:pt>
              </c:strCache>
            </c:strRef>
          </c:tx>
          <c:spPr>
            <a:solidFill>
              <a:srgbClr val="E052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2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A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C4D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Regulation / Governance / Risk</c:v>
                  </c:pt>
                  <c:pt idx="1">
                    <c:v>Productivity / Efficiency</c:v>
                  </c:pt>
                  <c:pt idx="2">
                    <c:v>Content Generation</c:v>
                  </c:pt>
                  <c:pt idx="3">
                    <c:v>Customer Service / Personalization</c:v>
                  </c:pt>
                  <c:pt idx="4">
                    <c:v>Automation</c:v>
                  </c:pt>
                  <c:pt idx="5">
                    <c:v>Decision Support / Analytics</c:v>
                  </c:pt>
                  <c:pt idx="6">
                    <c:v>Augmentation / Assistance</c:v>
                  </c:pt>
                  <c:pt idx="7">
                    <c:v>Workflow Redesign</c:v>
                  </c:pt>
                  <c:pt idx="8">
                    <c:v>Cybersecurity / Fraud</c:v>
                  </c:pt>
                  <c:pt idx="9">
                    <c:v>Software / Coding Assistance</c:v>
                  </c:pt>
                  <c:pt idx="10">
                    <c:v>Healthcare / Drug Discovery</c:v>
                  </c:pt>
                  <c:pt idx="11">
                    <c:v>Cost Reduction</c:v>
                  </c:pt>
                  <c:pt idx="12">
                    <c:v>Job Displacement / Labor Impact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87620</c:v>
                </c:pt>
                <c:pt idx="1">
                  <c:v>47907</c:v>
                </c:pt>
                <c:pt idx="2">
                  <c:v>28885</c:v>
                </c:pt>
                <c:pt idx="3">
                  <c:v>27844</c:v>
                </c:pt>
                <c:pt idx="4">
                  <c:v>27099</c:v>
                </c:pt>
                <c:pt idx="5">
                  <c:v>25157</c:v>
                </c:pt>
                <c:pt idx="6">
                  <c:v>25034</c:v>
                </c:pt>
                <c:pt idx="7">
                  <c:v>20066</c:v>
                </c:pt>
                <c:pt idx="8">
                  <c:v>16302</c:v>
                </c:pt>
                <c:pt idx="9">
                  <c:v>9204</c:v>
                </c:pt>
                <c:pt idx="10">
                  <c:v>7119</c:v>
                </c:pt>
                <c:pt idx="11">
                  <c:v>6384</c:v>
                </c:pt>
                <c:pt idx="12">
                  <c:v>4854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Labels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E0526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Neutral (44.5%)</c:v>
                </c:pt>
                <c:pt idx="1">
                  <c:v>Positive (32.4%)</c:v>
                </c:pt>
                <c:pt idx="2">
                  <c:v>Negative (23.1%)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538</c:v>
                </c:pt>
                <c:pt idx="1">
                  <c:v>391</c:v>
                </c:pt>
                <c:pt idx="2">
                  <c:v>279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E052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Google</c:v>
                  </c:pt>
                  <c:pt idx="2">
                    <c:v>OpenAI</c:v>
                  </c:pt>
                  <c:pt idx="3">
                    <c:v>Apple</c:v>
                  </c:pt>
                  <c:pt idx="4">
                    <c:v>Amazon</c:v>
                  </c:pt>
                  <c:pt idx="5">
                    <c:v>Meta</c:v>
                  </c:pt>
                  <c:pt idx="6">
                    <c:v>IBM</c:v>
                  </c:pt>
                  <c:pt idx="7">
                    <c:v>NVIDIA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21.5</c:v>
                </c:pt>
                <c:pt idx="1">
                  <c:v>22.3</c:v>
                </c:pt>
                <c:pt idx="2">
                  <c:v>24.8</c:v>
                </c:pt>
                <c:pt idx="3">
                  <c:v>20.1</c:v>
                </c:pt>
                <c:pt idx="4">
                  <c:v>22</c:v>
                </c:pt>
                <c:pt idx="5">
                  <c:v>27.4</c:v>
                </c:pt>
                <c:pt idx="6">
                  <c:v>18.9</c:v>
                </c:pt>
                <c:pt idx="7">
                  <c:v>19.2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Google</c:v>
                  </c:pt>
                  <c:pt idx="2">
                    <c:v>OpenAI</c:v>
                  </c:pt>
                  <c:pt idx="3">
                    <c:v>Apple</c:v>
                  </c:pt>
                  <c:pt idx="4">
                    <c:v>Amazon</c:v>
                  </c:pt>
                  <c:pt idx="5">
                    <c:v>Meta</c:v>
                  </c:pt>
                  <c:pt idx="6">
                    <c:v>IBM</c:v>
                  </c:pt>
                  <c:pt idx="7">
                    <c:v>NVIDIA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36.8</c:v>
                </c:pt>
                <c:pt idx="1">
                  <c:v>37.5</c:v>
                </c:pt>
                <c:pt idx="2">
                  <c:v>35.2</c:v>
                </c:pt>
                <c:pt idx="3">
                  <c:v>40.2</c:v>
                </c:pt>
                <c:pt idx="4">
                  <c:v>38.8</c:v>
                </c:pt>
                <c:pt idx="5">
                  <c:v>35.6</c:v>
                </c:pt>
                <c:pt idx="6">
                  <c:v>40.1</c:v>
                </c:pt>
                <c:pt idx="7">
                  <c:v>34.5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Microsoft</c:v>
                  </c:pt>
                  <c:pt idx="1">
                    <c:v>Google</c:v>
                  </c:pt>
                  <c:pt idx="2">
                    <c:v>OpenAI</c:v>
                  </c:pt>
                  <c:pt idx="3">
                    <c:v>Apple</c:v>
                  </c:pt>
                  <c:pt idx="4">
                    <c:v>Amazon</c:v>
                  </c:pt>
                  <c:pt idx="5">
                    <c:v>Meta</c:v>
                  </c:pt>
                  <c:pt idx="6">
                    <c:v>IBM</c:v>
                  </c:pt>
                  <c:pt idx="7">
                    <c:v>NVIDIA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41.7</c:v>
                </c:pt>
                <c:pt idx="1">
                  <c:v>40.2</c:v>
                </c:pt>
                <c:pt idx="2">
                  <c:v>40</c:v>
                </c:pt>
                <c:pt idx="3">
                  <c:v>39.7</c:v>
                </c:pt>
                <c:pt idx="4">
                  <c:v>39.2</c:v>
                </c:pt>
                <c:pt idx="5">
                  <c:v>37</c:v>
                </c:pt>
                <c:pt idx="6">
                  <c:v>41</c:v>
                </c:pt>
                <c:pt idx="7">
                  <c:v>46.3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E052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Legal</c:v>
                  </c:pt>
                  <c:pt idx="1">
                    <c:v>Gov &amp; Public</c:v>
                  </c:pt>
                  <c:pt idx="2">
                    <c:v>Telecom</c:v>
                  </c:pt>
                  <c:pt idx="3">
                    <c:v>Healthcare</c:v>
                  </c:pt>
                  <c:pt idx="4">
                    <c:v>Retail &amp; E-com</c:v>
                  </c:pt>
                  <c:pt idx="5">
                    <c:v>Energy &amp; Util</c:v>
                  </c:pt>
                  <c:pt idx="6">
                    <c:v>Finance</c:v>
                  </c:pt>
                  <c:pt idx="7">
                    <c:v>Education</c:v>
                  </c:pt>
                  <c:pt idx="8">
                    <c:v>Transportation</c:v>
                  </c:pt>
                  <c:pt idx="9">
                    <c:v>Media &amp; Mktg</c:v>
                  </c:pt>
                  <c:pt idx="10">
                    <c:v>Manufacturing</c:v>
                  </c:pt>
                  <c:pt idx="11">
                    <c:v>Technology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30.5</c:v>
                </c:pt>
                <c:pt idx="1">
                  <c:v>30.2</c:v>
                </c:pt>
                <c:pt idx="2">
                  <c:v>29</c:v>
                </c:pt>
                <c:pt idx="3">
                  <c:v>27.8</c:v>
                </c:pt>
                <c:pt idx="4">
                  <c:v>27.4</c:v>
                </c:pt>
                <c:pt idx="5">
                  <c:v>26.5</c:v>
                </c:pt>
                <c:pt idx="6">
                  <c:v>25.9</c:v>
                </c:pt>
                <c:pt idx="7">
                  <c:v>25.5</c:v>
                </c:pt>
                <c:pt idx="8">
                  <c:v>24</c:v>
                </c:pt>
                <c:pt idx="9">
                  <c:v>22.8</c:v>
                </c:pt>
                <c:pt idx="10">
                  <c:v>22.3</c:v>
                </c:pt>
                <c:pt idx="11">
                  <c:v>21.1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Legal</c:v>
                  </c:pt>
                  <c:pt idx="1">
                    <c:v>Gov &amp; Public</c:v>
                  </c:pt>
                  <c:pt idx="2">
                    <c:v>Telecom</c:v>
                  </c:pt>
                  <c:pt idx="3">
                    <c:v>Healthcare</c:v>
                  </c:pt>
                  <c:pt idx="4">
                    <c:v>Retail &amp; E-com</c:v>
                  </c:pt>
                  <c:pt idx="5">
                    <c:v>Energy &amp; Util</c:v>
                  </c:pt>
                  <c:pt idx="6">
                    <c:v>Finance</c:v>
                  </c:pt>
                  <c:pt idx="7">
                    <c:v>Education</c:v>
                  </c:pt>
                  <c:pt idx="8">
                    <c:v>Transportation</c:v>
                  </c:pt>
                  <c:pt idx="9">
                    <c:v>Media &amp; Mktg</c:v>
                  </c:pt>
                  <c:pt idx="10">
                    <c:v>Manufacturing</c:v>
                  </c:pt>
                  <c:pt idx="11">
                    <c:v>Technology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37.9</c:v>
                </c:pt>
                <c:pt idx="1">
                  <c:v>38.5</c:v>
                </c:pt>
                <c:pt idx="2">
                  <c:v>40</c:v>
                </c:pt>
                <c:pt idx="3">
                  <c:v>37.7</c:v>
                </c:pt>
                <c:pt idx="4">
                  <c:v>35.8</c:v>
                </c:pt>
                <c:pt idx="5">
                  <c:v>37.3</c:v>
                </c:pt>
                <c:pt idx="6">
                  <c:v>37</c:v>
                </c:pt>
                <c:pt idx="7">
                  <c:v>42.4</c:v>
                </c:pt>
                <c:pt idx="8">
                  <c:v>40.4</c:v>
                </c:pt>
                <c:pt idx="9">
                  <c:v>41.7</c:v>
                </c:pt>
                <c:pt idx="10">
                  <c:v>37.7</c:v>
                </c:pt>
                <c:pt idx="11">
                  <c:v>36.7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Legal</c:v>
                  </c:pt>
                  <c:pt idx="1">
                    <c:v>Gov &amp; Public</c:v>
                  </c:pt>
                  <c:pt idx="2">
                    <c:v>Telecom</c:v>
                  </c:pt>
                  <c:pt idx="3">
                    <c:v>Healthcare</c:v>
                  </c:pt>
                  <c:pt idx="4">
                    <c:v>Retail &amp; E-com</c:v>
                  </c:pt>
                  <c:pt idx="5">
                    <c:v>Energy &amp; Util</c:v>
                  </c:pt>
                  <c:pt idx="6">
                    <c:v>Finance</c:v>
                  </c:pt>
                  <c:pt idx="7">
                    <c:v>Education</c:v>
                  </c:pt>
                  <c:pt idx="8">
                    <c:v>Transportation</c:v>
                  </c:pt>
                  <c:pt idx="9">
                    <c:v>Media &amp; Mktg</c:v>
                  </c:pt>
                  <c:pt idx="10">
                    <c:v>Manufacturing</c:v>
                  </c:pt>
                  <c:pt idx="11">
                    <c:v>Technology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31.6</c:v>
                </c:pt>
                <c:pt idx="1">
                  <c:v>31.3</c:v>
                </c:pt>
                <c:pt idx="2">
                  <c:v>31</c:v>
                </c:pt>
                <c:pt idx="3">
                  <c:v>34.5</c:v>
                </c:pt>
                <c:pt idx="4">
                  <c:v>36.8</c:v>
                </c:pt>
                <c:pt idx="5">
                  <c:v>36.3</c:v>
                </c:pt>
                <c:pt idx="6">
                  <c:v>37</c:v>
                </c:pt>
                <c:pt idx="7">
                  <c:v>32.1</c:v>
                </c:pt>
                <c:pt idx="8">
                  <c:v>35.6</c:v>
                </c:pt>
                <c:pt idx="9">
                  <c:v>35.6</c:v>
                </c:pt>
                <c:pt idx="10">
                  <c:v>40</c:v>
                </c:pt>
                <c:pt idx="11">
                  <c:v>42.2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Negative</c:v>
                </c:pt>
              </c:strCache>
            </c:strRef>
          </c:tx>
          <c:spPr>
            <a:solidFill>
              <a:srgbClr val="E05263"/>
            </a:solidFill>
            <a:ln w="38100" cap="flat">
              <a:solidFill>
                <a:srgbClr val="E052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263"/>
              </a:solidFill>
              <a:ln w="9525" cap="flat">
                <a:solidFill>
                  <a:srgbClr val="E052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22.1</c:v>
                </c:pt>
                <c:pt idx="1">
                  <c:v>23.8</c:v>
                </c:pt>
                <c:pt idx="2">
                  <c:v>24.2</c:v>
                </c:pt>
                <c:pt idx="3">
                  <c:v>23.5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Neutral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42.5</c:v>
                </c:pt>
                <c:pt idx="1">
                  <c:v>40.1</c:v>
                </c:pt>
                <c:pt idx="2">
                  <c:v>37.2</c:v>
                </c:pt>
                <c:pt idx="3">
                  <c:v>36.8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% Positive</c:v>
                </c:pt>
              </c:strCache>
            </c:strRef>
          </c:tx>
          <c:spPr>
            <a:solidFill>
              <a:srgbClr val="27AE60"/>
            </a:solidFill>
            <a:ln w="3810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35.4</c:v>
                </c:pt>
                <c:pt idx="1">
                  <c:v>36.1</c:v>
                </c:pt>
                <c:pt idx="2">
                  <c:v>38.6</c:v>
                </c:pt>
                <c:pt idx="3">
                  <c:v>39.7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20"/>
        </c:scaling>
        <c:delete val="0"/>
        <c:axPos val="l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Articles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Partnerships / Ecosystem</c:v>
                  </c:pt>
                  <c:pt idx="1">
                    <c:v>Cost Savings / ROI</c:v>
                  </c:pt>
                  <c:pt idx="2">
                    <c:v>Infrastructure / Compute</c:v>
                  </c:pt>
                  <c:pt idx="3">
                    <c:v>Talent / Skills</c:v>
                  </c:pt>
                  <c:pt idx="4">
                    <c:v>Data Availability / Quality</c:v>
                  </c:pt>
                  <c:pt idx="5">
                    <c:v>Leadership / Strategy</c:v>
                  </c:pt>
                  <c:pt idx="6">
                    <c:v>User Adoption / Trust</c:v>
                  </c:pt>
                  <c:pt idx="7">
                    <c:v>Regulatory Clarity</c:v>
                  </c:pt>
                  <c:pt idx="8">
                    <c:v>Workflow Integration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43131</c:v>
                </c:pt>
                <c:pt idx="1">
                  <c:v>22150</c:v>
                </c:pt>
                <c:pt idx="2">
                  <c:v>17723</c:v>
                </c:pt>
                <c:pt idx="3">
                  <c:v>11207</c:v>
                </c:pt>
                <c:pt idx="4">
                  <c:v>6839</c:v>
                </c:pt>
                <c:pt idx="5">
                  <c:v>1452</c:v>
                </c:pt>
                <c:pt idx="6">
                  <c:v>1407</c:v>
                </c:pt>
                <c:pt idx="7">
                  <c:v>1006</c:v>
                </c:pt>
                <c:pt idx="8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Articles</c:v>
                </c:pt>
              </c:strCache>
            </c:strRef>
          </c:tx>
          <c:spPr>
            <a:solidFill>
              <a:srgbClr val="E052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Bias / Ethical Concerns</c:v>
                  </c:pt>
                  <c:pt idx="1">
                    <c:v>Regulation / Legal Risk</c:v>
                  </c:pt>
                  <c:pt idx="2">
                    <c:v>High Cost / Unclear ROI</c:v>
                  </c:pt>
                  <c:pt idx="3">
                    <c:v>Security / Privacy Risk</c:v>
                  </c:pt>
                  <c:pt idx="4">
                    <c:v>Job Loss / Workforce Fear</c:v>
                  </c:pt>
                  <c:pt idx="5">
                    <c:v>Trust / Accuracy Concerns</c:v>
                  </c:pt>
                  <c:pt idx="6">
                    <c:v>Talent Shortage</c:v>
                  </c:pt>
                  <c:pt idx="7">
                    <c:v>Poor Data Quality</c:v>
                  </c:pt>
                  <c:pt idx="8">
                    <c:v>Integration Difficulty</c:v>
                  </c:pt>
                  <c:pt idx="9">
                    <c:v>Resistance to Change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13402</c:v>
                </c:pt>
                <c:pt idx="1">
                  <c:v>12265</c:v>
                </c:pt>
                <c:pt idx="2">
                  <c:v>7767</c:v>
                </c:pt>
                <c:pt idx="3">
                  <c:v>5444</c:v>
                </c:pt>
                <c:pt idx="4">
                  <c:v>4822</c:v>
                </c:pt>
                <c:pt idx="5">
                  <c:v>4077</c:v>
                </c:pt>
                <c:pt idx="6">
                  <c:v>999</c:v>
                </c:pt>
                <c:pt idx="7">
                  <c:v>671</c:v>
                </c:pt>
                <c:pt idx="8">
                  <c:v>656</c:v>
                </c:pt>
                <c:pt idx="9">
                  <c:v>531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F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E9AA7">
              <a:alpha val="16000"/>
            </a:srgbClr>
          </a:solidFill>
          <a:ln w="12700">
            <a:solidFill>
              <a:srgbClr val="0E9AA7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743200"/>
            <a:ext cx="2011680" cy="201168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192024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NLP FINAL PROJECT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Impact on Industries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Analysis of ~200K AI News Articles (2022–2026)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5029200" cy="16459"/>
          </a:xfrm>
          <a:prstGeom prst="rect">
            <a:avLst/>
          </a:prstGeom>
          <a:solidFill>
            <a:srgbClr val="D0DBE6">
              <a:alpha val="45000"/>
            </a:srgbClr>
          </a:solidFill>
          <a:ln w="12700">
            <a:solidFill>
              <a:srgbClr val="D0DBE6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27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Dataset: </a:t>
            </a:r>
            <a:pPr indent="0" marL="0">
              <a:buNone/>
            </a:pPr>
            <a:r>
              <a:rPr lang="en-US" sz="1100" dirty="0">
                <a:solidFill>
                  <a:srgbClr val="D0DBE6"/>
                </a:solidFill>
              </a:rPr>
              <a:t>199,380 articles  | 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Relevant: </a:t>
            </a:r>
            <a:pPr indent="0" marL="0">
              <a:buNone/>
            </a:pPr>
            <a:r>
              <a:rPr lang="en-US" sz="1100" dirty="0">
                <a:solidFill>
                  <a:srgbClr val="D0DBE6"/>
                </a:solidFill>
              </a:rPr>
              <a:t>129,326 (64.9%)  | 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Scope: </a:t>
            </a:r>
            <a:pPr indent="0" marL="0">
              <a:buNone/>
            </a:pPr>
            <a:r>
              <a:rPr lang="en-US" sz="1100" dirty="0">
                <a:solidFill>
                  <a:srgbClr val="D0DBE6"/>
                </a:solidFill>
              </a:rPr>
              <a:t>Jan 2022 – Feb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703320"/>
            <a:ext cx="2724912" cy="804672"/>
          </a:xfrm>
          <a:prstGeom prst="rect">
            <a:avLst/>
          </a:prstGeom>
          <a:solidFill>
            <a:srgbClr val="13204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70332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74904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BE6"/>
                </a:solidFill>
              </a:rPr>
              <a:t>Which industries are most impacted by AI?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64408" y="3703320"/>
            <a:ext cx="2724912" cy="804672"/>
          </a:xfrm>
          <a:prstGeom prst="rect">
            <a:avLst/>
          </a:prstGeom>
          <a:solidFill>
            <a:srgbClr val="13204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370332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74904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BE6"/>
                </a:solidFill>
              </a:rPr>
              <a:t>How are they impacted — positively or negatively, by what means?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17336" y="3703320"/>
            <a:ext cx="2724912" cy="804672"/>
          </a:xfrm>
          <a:prstGeom prst="rect">
            <a:avLst/>
          </a:prstGeom>
          <a:solidFill>
            <a:srgbClr val="13204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370332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10528" y="374904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BE6"/>
                </a:solidFill>
              </a:rPr>
              <a:t>What makes AI adoption succeed or fail?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Methodology: 7-Notebook Pipeline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38912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38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896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Data Loading &amp; Cleaning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2618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Load parquet → inspect → clean text → remove junk → save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804672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804672"/>
            <a:ext cx="438912" cy="960120"/>
          </a:xfrm>
          <a:prstGeom prst="rect">
            <a:avLst/>
          </a:prstGeom>
          <a:solidFill>
            <a:srgbClr val="0A7A85"/>
          </a:solidFill>
          <a:ln w="12700">
            <a:solidFill>
              <a:srgbClr val="0A7A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04672"/>
            <a:ext cx="438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30952" y="896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Relevance Filtering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30952" y="12618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AI keyword scoring (4 signal types) → exclusion list → 129K articles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83664"/>
            <a:ext cx="438912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83664"/>
            <a:ext cx="438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" y="1975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Industry &amp; Entity Extraction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3408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13-industry keyword dict + spaCy NER → company co-occurrence tables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883664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883664"/>
            <a:ext cx="438912" cy="960120"/>
          </a:xfrm>
          <a:prstGeom prst="rect">
            <a:avLst/>
          </a:prstGeom>
          <a:solidFill>
            <a:srgbClr val="6C4D9E"/>
          </a:solidFill>
          <a:ln w="12700">
            <a:solidFill>
              <a:srgbClr val="6C4D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883664"/>
            <a:ext cx="438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0952" y="1975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Impact Theme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0952" y="23408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12-theme keyword dictionary → per-article labeling → industry-theme matrix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62656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962656"/>
            <a:ext cx="438912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962656"/>
            <a:ext cx="438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4672" y="3054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Sentiment Model (trained by us)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34198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1,208 hand-labeled articles → TF-IDF + Logistic Regression → 65.3% acc.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962656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962656"/>
            <a:ext cx="438912" cy="96012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962656"/>
            <a:ext cx="438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30952" y="3054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AI Adoption Factors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30952" y="34198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9 success + 10 barrier keyword categories → industry cross-tabs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041648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041648"/>
            <a:ext cx="43891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41648"/>
            <a:ext cx="438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04672" y="41330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Final Synthesis &amp; Charts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4672" y="44988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Aggregate all outputs → polished visualizations →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1: Data Loading &amp; Inspection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01168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68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199,989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1417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Total Articles Loaded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32304" y="804672"/>
            <a:ext cx="2011680" cy="10515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868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32304" y="1417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Columns (url, date, language, title, text)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08576" y="804672"/>
            <a:ext cx="201168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868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08576" y="1417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English Language (no filtering needed)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84848" y="804672"/>
            <a:ext cx="2011680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868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84848" y="1417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Missing Values in Any Column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Article Volume by Year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267712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577840" y="19933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Text Length Distribution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286000"/>
          <a:ext cx="3291840" cy="26517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Text Length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8,390 chars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Median (50th)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7,157 chars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25th pct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4,943 chars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75th pct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10,445 chars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230,322 chars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 (post-clean)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 chars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</a:rPr>
              <a:t>2023 had the highest article volume (71K), likely reflecting peak public interest in ChatGPT and generative AI launches.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1–2: Article Clean-Up &amp; Filtering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15 pts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24912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77824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199,989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Raw Articles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99232" y="914400"/>
            <a:ext cx="219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0DBE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24912" cy="13716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877824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199,380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27832" y="16276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After Cleaning (−609)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52744" y="914400"/>
            <a:ext cx="219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0DBE6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81344" y="804672"/>
            <a:ext cx="2724912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877824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129,326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81344" y="16276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After Relevance Filter (−70,054)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04288"/>
          <a:ext cx="8595360" cy="2743200"/>
        </p:xfrm>
        <a:graphic>
          <a:graphicData uri="http://schemas.openxmlformats.org/drawingml/2006/table">
            <a:tbl>
              <a:tblPr/>
              <a:tblGrid>
                <a:gridCol w="1737360"/>
                <a:gridCol w="2560320"/>
                <a:gridCol w="25603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normalization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Stripped \n, \t, HTML tags, URLs, whitespace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 are web crawls — filled with boilerplate artifacts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full_text field created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articles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rows with full_text_len ≤ 100 chars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or near-empty articles add noise, not signal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−108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duplicates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duplicate URL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crawls frequently scrape same articles multiple times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−501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content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identical title + body pairs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Cross-posted syndicated content skews frequency 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−501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keywords × 4 signal categories (see next)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 articles are actually about AI impact on industries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−70,054 articles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Exclusion list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crypto prices, sports, photo galleries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High-noise categories matched AI terms superficially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−70,054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2: Relevance Filtering — Scoring System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Each article was scored using four keyword signal categories. An article is relevant if it has ≥1 AI signal + at least one other signal, OR a combined score ≥ 4.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89888"/>
            <a:ext cx="4160520" cy="3474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898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Core Terms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44752"/>
            <a:ext cx="96926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444752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Weight ×3  |  23 keywords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810512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Examples: artificial intelligence, machine learning, LLM, ChatGPT, generative AI, OpenAI, deep learning, NLP, copilot…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36592" y="1389888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389888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898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 Terms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99832" y="1444752"/>
            <a:ext cx="96926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444752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Weight ×2  |  19 keywords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810512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Examples: productivity, workflow redesign, job loss, layoff, displacement, augmentation, automation, adoption, ROI…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26080"/>
            <a:ext cx="4160520" cy="347472"/>
          </a:xfrm>
          <a:prstGeom prst="rect">
            <a:avLst/>
          </a:prstGeom>
          <a:solidFill>
            <a:srgbClr val="6C4D9E"/>
          </a:solidFill>
          <a:ln w="12700">
            <a:solidFill>
              <a:srgbClr val="6C4D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260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Terms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980944"/>
            <a:ext cx="96926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980944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Weight ×1  |  11 keywords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" y="3346704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Examples: industry, company, enterprise, sector, market, operations, employee, employer…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2926080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2926080"/>
            <a:ext cx="416052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260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Industry Hints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99832" y="2980944"/>
            <a:ext cx="969264" cy="237744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980944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Weight ×1  |  18 keywords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3346704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Examples: healthcare, finance, banking, legal, manufacturing, retail, education, logistics, media, energy…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617720"/>
            <a:ext cx="272491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61772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190,293  —  Passed AI signal test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27832" y="4617720"/>
            <a:ext cx="272491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27832" y="461772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129,326  —  Final relevant corpus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1344" y="4617720"/>
            <a:ext cx="272491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461772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64.9%  —  Retention rate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3: Industries Most Impacted by AI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 pts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77240"/>
          <a:ext cx="54864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777240"/>
            <a:ext cx="2880360" cy="7772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8046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Media &amp; Marketing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80760" y="1078992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0DBE6"/>
                </a:solidFill>
              </a:rPr>
              <a:t>89,912 articles — content generation, copyright, ad-tech disruption, creator tools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5989320" y="1627632"/>
            <a:ext cx="288036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6550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Technology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80760" y="1929384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0DBE6"/>
                </a:solidFill>
              </a:rPr>
              <a:t>78,366 — cloud infra, SaaS AI, developer tooling, semiconductor demand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5989320" y="2478024"/>
            <a:ext cx="2880360" cy="777240"/>
          </a:xfrm>
          <a:prstGeom prst="rect">
            <a:avLst/>
          </a:prstGeom>
          <a:solidFill>
            <a:srgbClr val="6C4D9E"/>
          </a:solidFill>
          <a:ln w="12700">
            <a:solidFill>
              <a:srgbClr val="6C4D9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5054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Finance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80760" y="2779776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0DBE6"/>
                </a:solidFill>
              </a:rPr>
              <a:t>58,027 — risk scoring, fraud detection, algo trading, RegTech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989320" y="3328416"/>
            <a:ext cx="2880360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35584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Education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080760" y="3630168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0DBE6"/>
                </a:solidFill>
              </a:rPr>
              <a:t>57,106 — academic integrity, personalized learning, AI tutors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5989320" y="4178808"/>
            <a:ext cx="2880360" cy="777240"/>
          </a:xfrm>
          <a:prstGeom prst="rect">
            <a:avLst/>
          </a:prstGeom>
          <a:solidFill>
            <a:srgbClr val="5C748A"/>
          </a:solidFill>
          <a:ln w="12700">
            <a:solidFill>
              <a:srgbClr val="5C74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4206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Gov &amp; Public Sector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80760" y="448056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0DBE6"/>
                </a:solidFill>
              </a:rPr>
              <a:t>46,673 — AI regulation, defense, immigration, public services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3: Entity Extraction — Top Companies by Mentions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 pts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02336"/>
          </a:xfrm>
          <a:prstGeom prst="rect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Method: spaCy en_core_web_sm NER on title + first 1,000 chars per article. Noise entities (media outlets, generic terms) manually excluded. 129,326 docs processed.</a:t>
            </a:r>
            <a:endParaRPr lang="en-US" sz="9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1261872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1261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Most Mentioned Organizations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32120" y="12618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Top Company per Industry (by co-mention count)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536192"/>
          <a:ext cx="3337560" cy="3383280"/>
        </p:xfrm>
        <a:graphic>
          <a:graphicData uri="http://schemas.openxmlformats.org/drawingml/2006/table">
            <a:tbl>
              <a:tblPr/>
              <a:tblGrid>
                <a:gridCol w="1737360"/>
                <a:gridCol w="1600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Industry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Top Company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Consulting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Microsoft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Education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Google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Finance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Microsoft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Government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Microsoft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Healthcare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Google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Legal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OpenAI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Manufacturing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Microsoft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Media &amp; Mktg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Google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Technology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Microsoft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Transportation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Google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4: Impact Themes — How AI Affects Industries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 pts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49808"/>
          <a:ext cx="5349240" cy="4279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77724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06440" y="777240"/>
            <a:ext cx="64008" cy="96012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8503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Regulation dominates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0" y="116128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87K articles — across every sector, governance/risk is the lens through which AI is most frequently discussed.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06440" y="1856232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06440" y="1856232"/>
            <a:ext cx="64008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92938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Productivity is the #1 benefit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0" y="22402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48K articles link AI to efficiency gains — streamlining processes, reducing time-to-output, improving throughput.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06440" y="2935224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06440" y="2935224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00837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Labor concerns are real but lower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0" y="33192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Only 4.8K articles focus on job displacement — suggesting media covers opportunity more than threat overall.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06440" y="4014216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06440" y="4014216"/>
            <a:ext cx="64008" cy="960120"/>
          </a:xfrm>
          <a:prstGeom prst="rect">
            <a:avLst/>
          </a:prstGeom>
          <a:solidFill>
            <a:srgbClr val="6C4D9E"/>
          </a:solidFill>
          <a:ln w="12700">
            <a:solidFill>
              <a:srgbClr val="6C4D9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40873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Content Generation surges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43600" y="43982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28K articles — explosion of coverage on generative AI for creative tasks, copywriting, image/video generation.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4: Top 3 Impact Themes by Industry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</a:rPr>
              <a:t>Each cell shows the top themes per industry (ranked by article count)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931920"/>
        </p:xfrm>
        <a:graphic>
          <a:graphicData uri="http://schemas.openxmlformats.org/drawingml/2006/table">
            <a:tbl>
              <a:tblPr/>
              <a:tblGrid>
                <a:gridCol w="1965960"/>
                <a:gridCol w="2212848"/>
                <a:gridCol w="2212848"/>
                <a:gridCol w="2203704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#3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&amp; Marketing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D3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D3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D3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 &amp; Public Sector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D3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&amp; Utilities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D3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&amp; E-commerce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818888"/>
            <a:ext cx="201168" cy="20116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" y="4818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</a:rPr>
              <a:t>Regulation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20240" y="4818888"/>
            <a:ext cx="201168" cy="201168"/>
          </a:xfrm>
          <a:prstGeom prst="rect">
            <a:avLst/>
          </a:prstGeom>
          <a:solidFill>
            <a:srgbClr val="E8F8F5"/>
          </a:solidFill>
          <a:ln w="12700">
            <a:solidFill>
              <a:srgbClr val="148A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57984" y="4818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8A72"/>
                </a:solidFill>
              </a:rPr>
              <a:t>Productivity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566160" y="4818888"/>
            <a:ext cx="201168" cy="201168"/>
          </a:xfrm>
          <a:prstGeom prst="rect">
            <a:avLst/>
          </a:prstGeom>
          <a:solidFill>
            <a:srgbClr val="F4ECF7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03904" y="48188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3C98"/>
                </a:solidFill>
              </a:rPr>
              <a:t>Content Generation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0" y="4818888"/>
            <a:ext cx="201168" cy="201168"/>
          </a:xfrm>
          <a:prstGeom prst="rect">
            <a:avLst/>
          </a:prstGeom>
          <a:solidFill>
            <a:srgbClr val="EAF2FB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24144" y="48188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Decision Support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5: Sentiment Model — Training &amp; Validation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15 pts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32918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777240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Architecture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9AA7"/>
                </a:solidFill>
              </a:rPr>
              <a:t>Training samples: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47088" y="120700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1,208 manually labeled articles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6824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9AA7"/>
                </a:solidFill>
              </a:rPr>
              <a:t>Label breakdown: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47088" y="168249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Positive: 391 (32.4%) / Neutral: 538 (44.5%) / Negative: 279 (23.1%)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1579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9AA7"/>
                </a:solidFill>
              </a:rPr>
              <a:t>Labeling approach: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47088" y="215798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Hand-labeled by reviewing title + first 1,200 chars of article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63347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9AA7"/>
                </a:solidFill>
              </a:rPr>
              <a:t>Feature extraction: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47088" y="26334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TF-IDF vectorizer, max 30,000 features, unigrams &amp; bigrams, English stop words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1089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9AA7"/>
                </a:solidFill>
              </a:rPr>
              <a:t>Classifier: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47088" y="310896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Logistic Regression, max_iter=2000, class_weight='balanced'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5844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9AA7"/>
                </a:solidFill>
              </a:rPr>
              <a:t>Train/test split: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47088" y="358444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80/20 stratified split (966 train / 242 test)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405993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9AA7"/>
                </a:solidFill>
              </a:rPr>
              <a:t>Test accuracy: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47088" y="405993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65.3% — reasonable for 3-class noisy news 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7589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Classification Report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060704"/>
          <a:ext cx="4251960" cy="2331720"/>
        </p:xfrm>
        <a:graphic>
          <a:graphicData uri="http://schemas.openxmlformats.org/drawingml/2006/table">
            <a:tbl>
              <a:tblPr/>
              <a:tblGrid>
                <a:gridCol w="1005840"/>
                <a:gridCol w="868680"/>
                <a:gridCol w="749808"/>
                <a:gridCol w="713232"/>
                <a:gridCol w="91440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Negative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0.55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0.58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56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Neutral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0.72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0.72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108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Positive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0.59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0.61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78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Macro avg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242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</a:rPr>
                        <a:t>Accuracy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0.65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242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Chart 0" descr=""/>
          <p:cNvGraphicFramePr/>
          <p:nvPr/>
        </p:nvGraphicFramePr>
        <p:xfrm>
          <a:off x="4617720" y="3474720"/>
          <a:ext cx="42519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2"/>
          <p:cNvSpPr/>
          <p:nvPr/>
        </p:nvSpPr>
        <p:spPr>
          <a:xfrm>
            <a:off x="4617720" y="340156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Training Label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5: Entity-Level Sentiment — Top Companies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15 pts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</a:rPr>
              <a:t>Predicted sentiment distribution for articles where each major company was mentioned (normalized to % of articles)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078992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1078992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80760" y="1078992"/>
            <a:ext cx="64008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1521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NVIDIA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0" y="1463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Most positive coverage (46% pos) — driven by GPU demand and AI infrastructure boom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80760" y="2048256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2048256"/>
            <a:ext cx="64008" cy="8686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21214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IBM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17920" y="243230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High positive (41%) — steady enterprise AI / Watson coverage; less controversy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301752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3017520"/>
            <a:ext cx="64008" cy="86868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3090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Meta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17920" y="34015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Highest negative (27%) — content moderation, Llama copyright concerns, regulatory scrutiny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80760" y="3986784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0760" y="3986784"/>
            <a:ext cx="64008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40599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OpenAI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17920" y="43708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Most negative among top-3 (25%) — safety debates, copyright lawsuits, governance issues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5: Topic-Level Sentiment by Industry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15 pts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77240"/>
          <a:ext cx="57607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804672"/>
            <a:ext cx="26060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26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804672"/>
            <a:ext cx="64008" cy="96012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841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263"/>
                </a:solidFill>
              </a:rPr>
              <a:t>Most Pessimistic: Legal (30.5% neg)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0" y="11612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Liability, copyright IP risk, and regulatory uncertainty create predominantly cautious coverage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26060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64008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19110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Most Optimistic: Technology (42.2% pos)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0" y="223113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Developer tools, infrastructure growth, and AI-native companies drive strongly positive narratives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263640" y="2944368"/>
            <a:ext cx="26060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44368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29809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Most Neutral: Education (42.4% neutral)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0" y="330098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Balanced debate — AI tutoring upside vs. academic integrity concerns keeps coverage measured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6263640" y="4014216"/>
            <a:ext cx="26060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7A8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14216"/>
            <a:ext cx="64008" cy="960120"/>
          </a:xfrm>
          <a:prstGeom prst="rect">
            <a:avLst/>
          </a:prstGeom>
          <a:solidFill>
            <a:srgbClr val="0A7A85"/>
          </a:solidFill>
          <a:ln w="12700">
            <a:solidFill>
              <a:srgbClr val="0A7A8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4050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A85"/>
                </a:solidFill>
              </a:rPr>
              <a:t>Manufacturing: shift to positive (40%)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00800" y="4370832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Strong automation upside narrative in manufacturing offsets labor disruption concerns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5: Sentiment Trends Over Time (2022–2025)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05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 pts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7724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777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Article Volume by Year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060704"/>
          <a:ext cx="265176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Articles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18,361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71,383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49,789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54,345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2026 (partial)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6,111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217920" y="3200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Key Observations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17920" y="3493008"/>
            <a:ext cx="292608" cy="3108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7920" y="349300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↑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547104" y="35204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Positive coverage rising year-over-year (+4.3pp from 2022→2025)</a:t>
            </a:r>
            <a:endParaRPr lang="en-US" sz="880" dirty="0"/>
          </a:p>
        </p:txBody>
      </p:sp>
      <p:sp>
        <p:nvSpPr>
          <p:cNvPr id="13" name="Shape 9"/>
          <p:cNvSpPr/>
          <p:nvPr/>
        </p:nvSpPr>
        <p:spPr>
          <a:xfrm>
            <a:off x="6217920" y="3877056"/>
            <a:ext cx="292608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7920" y="387705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47104" y="3904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Neutral coverage declining (−5.7pp) as AI discourse becomes more opinionated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6217920" y="4261104"/>
            <a:ext cx="292608" cy="310896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0" y="426110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47104" y="428853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Negative coverage stable (±1pp), suggesting persistent but not growing concerns</a:t>
            </a:r>
            <a:endParaRPr lang="en-US" sz="880" dirty="0"/>
          </a:p>
        </p:txBody>
      </p:sp>
      <p:sp>
        <p:nvSpPr>
          <p:cNvPr id="19" name="Shape 15"/>
          <p:cNvSpPr/>
          <p:nvPr/>
        </p:nvSpPr>
        <p:spPr>
          <a:xfrm>
            <a:off x="6217920" y="4645152"/>
            <a:ext cx="292608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0" y="464515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547104" y="467258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</a:rPr>
              <a:t>2023 peak volume (71K articles) coincides with ChatGPT &amp; GPT-4 launch wave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6: What Makes AI Adoption Succeed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1206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804672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23560" y="804672"/>
            <a:ext cx="64008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87782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Partnerships lead by far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60720" y="1188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43K articles — vendor ecosystems, cloud providers, and AI platform partnerships are consistently cited as the #1 enabler.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23560" y="1874520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23560" y="1874520"/>
            <a:ext cx="64008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9476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ROI must be demonstrable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60720" y="22585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22K articles — organizations move forward only when cost savings or revenue impact can be concretely projected.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23560" y="2944368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2944368"/>
            <a:ext cx="64008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017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Infrastructure is a prerequisite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60720" y="33284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17K — GPU access, scalable cloud compute, and data centers are required before AI can be deployed at scale.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23560" y="4014216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23560" y="4014216"/>
            <a:ext cx="64008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40873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Talent gap is the bottleneck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60720" y="43982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11K — shortage of AI engineers and data scientists is the most cited human-capital constraint to adoption speed.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6: What Makes AI Adoption Fail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1206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804672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23560" y="804672"/>
            <a:ext cx="64008" cy="96012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87782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#1: Bias &amp; Ethics (13.4K)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60720" y="1188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Across all industries — fairness, algorithmic discrimination, and responsible deployment are the single biggest public concern.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23560" y="1874520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23560" y="1874520"/>
            <a:ext cx="64008" cy="96012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9476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#2: Legal &amp; Regulatory Risk (12.3K)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60720" y="22585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GDPR, EU AI Act, copyright disputes, and product liability drive hesitation across legal, finance, and healthcare.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23560" y="2944368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2944368"/>
            <a:ext cx="64008" cy="96012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017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#3: High Cost / Unclear ROI (7.8K)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60720" y="33284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Infrastructure and licensing costs are high. Without proven business cases, organizations stall or delay deployment.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23560" y="4014216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23560" y="4014216"/>
            <a:ext cx="64008" cy="96012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40873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#4: Privacy &amp; Security (5.4K)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60720" y="439826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Data confidentiality, breach risk, and IP exposure are major blockers especially in regulated sectors.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Notebook 6: Success vs. Barriers — Top Factor Per Industry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</a:rPr>
              <a:t>Top success factor and top barrier by industry (ranked by article co-mention count)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78992"/>
          <a:ext cx="8595360" cy="3840480"/>
        </p:xfrm>
        <a:graphic>
          <a:graphicData uri="http://schemas.openxmlformats.org/drawingml/2006/table">
            <a:tbl>
              <a:tblPr/>
              <a:tblGrid>
                <a:gridCol w="1874520"/>
                <a:gridCol w="2148840"/>
                <a:gridCol w="640080"/>
                <a:gridCol w="2148840"/>
                <a:gridCol w="64008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Success Factor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Barrier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 &amp; Prof Svcs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6,973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/ Ethical Concerns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2,464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20,371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/ Ethical Concerns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7,612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&amp; Utilities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14,606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 / Legal Risk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6,794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24,178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 / Legal Risk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8,600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 &amp; Public Sector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17,790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/ Ethical Concerns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6,302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15,450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 / Legal Risk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5,498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13,775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 / Legal Risk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8,314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15,795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 / Legal Risk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6,033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&amp; Marketing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25,185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/ Ethical Concerns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8,942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&amp; E-commerce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9,542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/ Ethical Concerns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4,822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30,112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/ Ethical Concerns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9,128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 / Ecosystem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10,284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 / Legal Risk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AA7"/>
                </a:solidFill>
              </a:rPr>
              <a:t>Key finding: Partnerships / Ecosystem is the #1 success factor in every single industry. Regulation and Bias/Ethics split as the top barrier depending on sector.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Industry Deep Dive: 6 High-Impact Sectors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1605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Finance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Sentiment: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Balanced: 26% neg / 37% pos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Themes: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71600" y="138988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Regulation, Productivity, Decision Support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Company: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71600" y="1591056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Microsoft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Barrier: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71600" y="179222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 / Legal Risk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19933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Success: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71600" y="199339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Partnerships, Cost Savings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36592" y="804672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6592" y="804672"/>
            <a:ext cx="4160520" cy="320040"/>
          </a:xfrm>
          <a:prstGeom prst="rect">
            <a:avLst/>
          </a:prstGeom>
          <a:solidFill>
            <a:srgbClr val="27639A"/>
          </a:solidFill>
          <a:ln w="12700">
            <a:solidFill>
              <a:srgbClr val="276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8046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Healthcare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1188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Sentiment: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33872" y="118872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Cautious: 27.8% neg / 34.5% pos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28032" y="138988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Themes: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33872" y="138988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Regulation, Productivity, Drug Discovery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28032" y="15910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Company: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33872" y="1591056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Google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28032" y="17922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Barrier: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33872" y="179222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 / Legal Risk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28032" y="19933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Success: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33872" y="199339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Partnerships, Cost Savings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267712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267712"/>
            <a:ext cx="4160520" cy="32004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2677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Legal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2651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Sentiment: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371600" y="265176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Most negative: 30.5% neg / 31.6% pos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28529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Themes: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371600" y="285292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Regulation, Productivity, Content Gen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30540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Company: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371600" y="3054096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OpenAI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325526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Barrier: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371600" y="325526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 / Legal Risk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" y="345643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Success: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371600" y="345643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Partnerships, Cost Savings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36592" y="2267712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36592" y="2267712"/>
            <a:ext cx="416052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22677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Manufacturing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828032" y="2651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Sentiment: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33872" y="265176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Most positive (non-tech): 40.0% pos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28032" y="28529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Themes: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33872" y="285292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Regulation, Productivity, Decision Support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8032" y="30540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Company: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833872" y="3054096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Microsoft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28032" y="325526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Barrier: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33872" y="325526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Regulation, Bias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28032" y="345643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Success: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33872" y="345643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Partnerships, Infrastructure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3730752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730752"/>
            <a:ext cx="4160520" cy="3200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73075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Technology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365760" y="41148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Sentiment: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371600" y="411480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Most optimistic: 42.2% pos / 21.1% neg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65760" y="431596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Themes: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371600" y="431596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Regulation, Productivity, Software Assist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65760" y="451713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Company: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371600" y="4517136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Microsoft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65760" y="47183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Barrier: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371600" y="4718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Bias, High Cost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65760" y="49194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Success: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371600" y="491947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Partnerships, Infrastructure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36592" y="3730752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36592" y="3730752"/>
            <a:ext cx="4160520" cy="320040"/>
          </a:xfrm>
          <a:prstGeom prst="rect">
            <a:avLst/>
          </a:prstGeom>
          <a:solidFill>
            <a:srgbClr val="6C4D9E"/>
          </a:solidFill>
          <a:ln w="12700">
            <a:solidFill>
              <a:srgbClr val="6C4D9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28032" y="373075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Education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4828032" y="41148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Sentiment: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33872" y="411480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Most neutral: 42.4% neutral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828032" y="431596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Themes: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833872" y="431596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Regulation, Productivity, Customer Service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828032" y="451713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Company: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33872" y="4517136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Google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828032" y="47183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Top Barrier: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33872" y="4718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Bias, Regulation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828032" y="49194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</a:rPr>
              <a:t>Key Success: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33872" y="491947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Partnerships, Cost Savings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Answering the Three Task Questions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502920" cy="13258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86384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786384"/>
            <a:ext cx="8046720" cy="132588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77824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Q1 — Which industries are most likely to be impacted by AI?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43584"/>
            <a:ext cx="7818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BE6"/>
                </a:solidFill>
              </a:rPr>
              <a:t>Media &amp; Marketing (89K), Technology (78K), Finance (58K), and Education (57K) have the highest AI article volume. Legal and Government show the highest proportion of negative/regulatory sentiment — signaling high exposure combined with concern. Technology and Manufacturing show the most positive framing, suggesting they see AI primarily as an opportunity.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49424"/>
            <a:ext cx="502920" cy="13258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49424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2249424"/>
            <a:ext cx="8046720" cy="132588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40864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Q2 — How will industries be impacted, and by what means?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706624"/>
            <a:ext cx="7818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BE6"/>
                </a:solidFill>
              </a:rPr>
              <a:t>Regulation &amp; Governance is the #1 theme in every industry (87K articles). Core mechanisms of impact: Productivity/Efficiency (48K), Content Generation (29K), Customer Service (28K), Automation (27K), Decision Support (25K). Positive impact frames dominate in Technology and Manufacturing; negative frames dominate in Legal, Government, and Telecom.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712464"/>
            <a:ext cx="502920" cy="13258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712464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3712464"/>
            <a:ext cx="8046720" cy="132588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03904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Q3 — What makes AI adoption successful or unsuccessful?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169664"/>
            <a:ext cx="7818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DBE6"/>
                </a:solidFill>
              </a:rPr>
              <a:t>Success is driven by: Partnerships/Ecosystem (43K) &gt; Cost Savings/ROI (22K) &gt; Infrastructure/Compute (18K) &gt; Talent/Skills (11K). The top barriers are: Bias/Ethical Concerns (13K) &gt; Regulation/Legal Risk (12K) &gt; High Cost/Unclear ROI (8K) &gt; Security/Privacy Risk (5K). Pattern: organizations succeed when they have clear ROI, strong vendor partners, and proactive governance — and stall when facing ethical uncertainty.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Limitations &amp; Methodology Notes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137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9611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Keyword-based industry labeling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207008"/>
            <a:ext cx="39136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Industry assignment uses keyword dictionaries — an article can belong to multiple industries. This inflates per-industry counts but is an acceptable approximation for coverage analysis.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36592" y="804672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804672"/>
            <a:ext cx="64008" cy="1371600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9611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Sentiment model accuracy (65.3%)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1207008"/>
            <a:ext cx="39136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Built on 1,208 manually labeled samples. A fine-tuned transformer would likely reach 75–85%. The 3-class structure (pos/neg/neutral) introduces ambiguity for mixed-signal articles.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86000"/>
            <a:ext cx="64008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37744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NER entity noise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2688336"/>
            <a:ext cx="39136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spaCy en_core_web_sm is a small model — it picks up navigation menus and boilerplate text as organizations. Manual exclusion lists help but don't eliminate all noise.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36592" y="22860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2286000"/>
            <a:ext cx="64008" cy="1371600"/>
          </a:xfrm>
          <a:prstGeom prst="rect">
            <a:avLst/>
          </a:prstGeom>
          <a:solidFill>
            <a:srgbClr val="6C4D9E"/>
          </a:solidFill>
          <a:ln w="12700">
            <a:solidFill>
              <a:srgbClr val="6C4D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7744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Article coverage ≠ actual AI adoption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688336"/>
            <a:ext cx="39136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High article volume in a sector doesn't mean that sector is adopting AI fastest — it may reflect public interest or controversy. These are media signals, not deployment signals.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67328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67328"/>
            <a:ext cx="64008" cy="13716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85876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Temporal imbalance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4169664"/>
            <a:ext cx="39136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2023 had 4× the articles of 2022 due to ChatGPT launch. Trend analysis is directionally informative but not fully comparable across years.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3767328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3767328"/>
            <a:ext cx="64008" cy="137160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5876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Corpus is English-only &amp; web-crawled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4169664"/>
            <a:ext cx="39136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Global coverage is incomplete. Articles from non-English sources and paywalled outlets are absent. Web crawl artifacts were partially cleaned but some noise remains.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3474720"/>
            <a:ext cx="3474720" cy="3474720"/>
          </a:xfrm>
          <a:prstGeom prst="ellipse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6217920" cy="73152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960120"/>
            <a:ext cx="457200" cy="731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601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00584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BE6"/>
                </a:solidFill>
              </a:rPr>
              <a:t>Media, Finance, and Technology dominate AI coverage — highest volume, fastest adoption narrative, strongest ecosystem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83080"/>
            <a:ext cx="6217920" cy="73152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783080"/>
            <a:ext cx="457200" cy="731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830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BE6"/>
                </a:solidFill>
              </a:rPr>
              <a:t>Regulation &amp; Governance is the #1 AI topic across all 13 industries — compliance readiness is not optional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606040"/>
            <a:ext cx="6217920" cy="73152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606040"/>
            <a:ext cx="457200" cy="731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06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BE6"/>
                </a:solidFill>
              </a:rPr>
              <a:t>AI sentiment is trending positive (2022→2025), especially in Technology (+6.8pp) and Manufacturing (+4.5pp)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429000"/>
            <a:ext cx="6217920" cy="73152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429000"/>
            <a:ext cx="457200" cy="731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290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4747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BE6"/>
                </a:solidFill>
              </a:rPr>
              <a:t>The top adoption barrier — Bias/Ethical Concerns — is resolvable with governance frameworks and transparent model audits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4251960"/>
            <a:ext cx="6217920" cy="73152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4251960"/>
            <a:ext cx="457200" cy="731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519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29768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BE6"/>
                </a:solidFill>
              </a:rPr>
              <a:t>Successful AI adoption requires: strong vendor partnerships + demonstrable ROI + scalable infrastructure + skilled talent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3720" y="804672"/>
            <a:ext cx="2011680" cy="4114800"/>
          </a:xfrm>
          <a:prstGeom prst="rect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89611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AA7"/>
                </a:solidFill>
              </a:rPr>
              <a:t>199K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03720" y="14630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BE6"/>
                </a:solidFill>
              </a:rPr>
              <a:t>Articles Analyzed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03720" y="19019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AA7"/>
                </a:solidFill>
              </a:rPr>
              <a:t>129K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03720" y="24688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BE6"/>
                </a:solidFill>
              </a:rPr>
              <a:t>Relevant Articles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03720" y="29077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AA7"/>
                </a:solidFill>
              </a:rPr>
              <a:t>13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03720" y="3474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BE6"/>
                </a:solidFill>
              </a:rPr>
              <a:t>Industries Tracked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03720" y="391363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AA7"/>
                </a:solidFill>
              </a:rPr>
              <a:t>65.3%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903720" y="4480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BE6"/>
                </a:solidFill>
              </a:rPr>
              <a:t>Sentiment Accuracy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Impact on Industries: NLP Analysis of ~200K News Articles</dc:title>
  <dc:subject>PptxGenJS Presentation</dc:subject>
  <dc:creator>PptxGenJS</dc:creator>
  <cp:lastModifiedBy>PptxGenJS</cp:lastModifiedBy>
  <cp:revision>1</cp:revision>
  <dcterms:created xsi:type="dcterms:W3CDTF">2026-03-11T00:04:31Z</dcterms:created>
  <dcterms:modified xsi:type="dcterms:W3CDTF">2026-03-11T00:04:31Z</dcterms:modified>
</cp:coreProperties>
</file>